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70"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3911EF-80BD-45E0-83FD-46E7B6BAE799}" v="12" dt="2026-01-26T02:34:22.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 ROSHAN" userId="c8922cc72f281b43" providerId="LiveId" clId="{281F7763-69BD-4E9A-A35E-D03C3CCF8B3E}"/>
    <pc:docChg chg="custSel addSld modSld modMainMaster">
      <pc:chgData name="RAJ ROSHAN" userId="c8922cc72f281b43" providerId="LiveId" clId="{281F7763-69BD-4E9A-A35E-D03C3CCF8B3E}" dt="2026-01-26T02:34:43.018" v="28" actId="14100"/>
      <pc:docMkLst>
        <pc:docMk/>
      </pc:docMkLst>
      <pc:sldChg chg="modSp mod">
        <pc:chgData name="RAJ ROSHAN" userId="c8922cc72f281b43" providerId="LiveId" clId="{281F7763-69BD-4E9A-A35E-D03C3CCF8B3E}" dt="2026-01-20T08:01:15.375" v="7" actId="27636"/>
        <pc:sldMkLst>
          <pc:docMk/>
          <pc:sldMk cId="3212666273" sldId="256"/>
        </pc:sldMkLst>
        <pc:spChg chg="mod">
          <ac:chgData name="RAJ ROSHAN" userId="c8922cc72f281b43" providerId="LiveId" clId="{281F7763-69BD-4E9A-A35E-D03C3CCF8B3E}" dt="2026-01-20T08:01:15.375" v="7" actId="27636"/>
          <ac:spMkLst>
            <pc:docMk/>
            <pc:sldMk cId="3212666273" sldId="256"/>
            <ac:spMk id="3" creationId="{FBB81C89-87A6-B37A-C44B-04E1618C48F7}"/>
          </ac:spMkLst>
        </pc:spChg>
      </pc:sldChg>
      <pc:sldChg chg="modSp mod">
        <pc:chgData name="RAJ ROSHAN" userId="c8922cc72f281b43" providerId="LiveId" clId="{281F7763-69BD-4E9A-A35E-D03C3CCF8B3E}" dt="2026-01-20T08:02:13.380" v="19" actId="27636"/>
        <pc:sldMkLst>
          <pc:docMk/>
          <pc:sldMk cId="1437111339" sldId="257"/>
        </pc:sldMkLst>
        <pc:spChg chg="mod">
          <ac:chgData name="RAJ ROSHAN" userId="c8922cc72f281b43" providerId="LiveId" clId="{281F7763-69BD-4E9A-A35E-D03C3CCF8B3E}" dt="2026-01-20T08:02:13.380" v="19" actId="27636"/>
          <ac:spMkLst>
            <pc:docMk/>
            <pc:sldMk cId="1437111339" sldId="257"/>
            <ac:spMk id="3" creationId="{37A958FB-0245-D15A-4559-C3698CE1C8E5}"/>
          </ac:spMkLst>
        </pc:spChg>
      </pc:sldChg>
      <pc:sldChg chg="modSp">
        <pc:chgData name="RAJ ROSHAN" userId="c8922cc72f281b43" providerId="LiveId" clId="{281F7763-69BD-4E9A-A35E-D03C3CCF8B3E}" dt="2026-01-20T08:02:39.548" v="20"/>
        <pc:sldMkLst>
          <pc:docMk/>
          <pc:sldMk cId="797149547" sldId="258"/>
        </pc:sldMkLst>
        <pc:spChg chg="mod">
          <ac:chgData name="RAJ ROSHAN" userId="c8922cc72f281b43" providerId="LiveId" clId="{281F7763-69BD-4E9A-A35E-D03C3CCF8B3E}" dt="2026-01-20T08:02:39.548" v="20"/>
          <ac:spMkLst>
            <pc:docMk/>
            <pc:sldMk cId="797149547" sldId="258"/>
            <ac:spMk id="2" creationId="{506009B7-A290-D892-1493-FEA1268E7214}"/>
          </ac:spMkLst>
        </pc:spChg>
        <pc:spChg chg="mod">
          <ac:chgData name="RAJ ROSHAN" userId="c8922cc72f281b43" providerId="LiveId" clId="{281F7763-69BD-4E9A-A35E-D03C3CCF8B3E}" dt="2026-01-20T08:02:39.548" v="20"/>
          <ac:spMkLst>
            <pc:docMk/>
            <pc:sldMk cId="797149547" sldId="258"/>
            <ac:spMk id="3" creationId="{88B81C74-BA0A-5529-369B-294CDED23B09}"/>
          </ac:spMkLst>
        </pc:spChg>
        <pc:spChg chg="mod">
          <ac:chgData name="RAJ ROSHAN" userId="c8922cc72f281b43" providerId="LiveId" clId="{281F7763-69BD-4E9A-A35E-D03C3CCF8B3E}" dt="2026-01-20T08:02:39.548" v="20"/>
          <ac:spMkLst>
            <pc:docMk/>
            <pc:sldMk cId="797149547" sldId="258"/>
            <ac:spMk id="4" creationId="{0EFD9BFC-3655-9C66-86E7-8EC3CE23BD7A}"/>
          </ac:spMkLst>
        </pc:spChg>
      </pc:sldChg>
      <pc:sldChg chg="modSp">
        <pc:chgData name="RAJ ROSHAN" userId="c8922cc72f281b43" providerId="LiveId" clId="{281F7763-69BD-4E9A-A35E-D03C3CCF8B3E}" dt="2026-01-20T08:02:39.548" v="20"/>
        <pc:sldMkLst>
          <pc:docMk/>
          <pc:sldMk cId="5810286" sldId="259"/>
        </pc:sldMkLst>
        <pc:spChg chg="mod">
          <ac:chgData name="RAJ ROSHAN" userId="c8922cc72f281b43" providerId="LiveId" clId="{281F7763-69BD-4E9A-A35E-D03C3CCF8B3E}" dt="2026-01-20T08:02:39.548" v="20"/>
          <ac:spMkLst>
            <pc:docMk/>
            <pc:sldMk cId="5810286" sldId="259"/>
            <ac:spMk id="2" creationId="{FB94321C-2F5B-6016-72A1-7E2531A4D9EA}"/>
          </ac:spMkLst>
        </pc:spChg>
        <pc:spChg chg="mod">
          <ac:chgData name="RAJ ROSHAN" userId="c8922cc72f281b43" providerId="LiveId" clId="{281F7763-69BD-4E9A-A35E-D03C3CCF8B3E}" dt="2026-01-20T08:02:39.548" v="20"/>
          <ac:spMkLst>
            <pc:docMk/>
            <pc:sldMk cId="5810286" sldId="259"/>
            <ac:spMk id="3" creationId="{88C2635D-B986-6737-7BD6-AC05782AC88C}"/>
          </ac:spMkLst>
        </pc:spChg>
      </pc:sldChg>
      <pc:sldChg chg="modSp">
        <pc:chgData name="RAJ ROSHAN" userId="c8922cc72f281b43" providerId="LiveId" clId="{281F7763-69BD-4E9A-A35E-D03C3CCF8B3E}" dt="2026-01-20T08:02:39.548" v="20"/>
        <pc:sldMkLst>
          <pc:docMk/>
          <pc:sldMk cId="3493646392" sldId="261"/>
        </pc:sldMkLst>
        <pc:spChg chg="mod">
          <ac:chgData name="RAJ ROSHAN" userId="c8922cc72f281b43" providerId="LiveId" clId="{281F7763-69BD-4E9A-A35E-D03C3CCF8B3E}" dt="2026-01-20T08:02:39.548" v="20"/>
          <ac:spMkLst>
            <pc:docMk/>
            <pc:sldMk cId="3493646392" sldId="261"/>
            <ac:spMk id="2" creationId="{F398C946-6EA2-5F38-C471-C9D6FAD40C92}"/>
          </ac:spMkLst>
        </pc:spChg>
        <pc:spChg chg="mod">
          <ac:chgData name="RAJ ROSHAN" userId="c8922cc72f281b43" providerId="LiveId" clId="{281F7763-69BD-4E9A-A35E-D03C3CCF8B3E}" dt="2026-01-20T08:02:39.548" v="20"/>
          <ac:spMkLst>
            <pc:docMk/>
            <pc:sldMk cId="3493646392" sldId="261"/>
            <ac:spMk id="3" creationId="{A78669E9-66C8-509A-7641-7BA753036A7A}"/>
          </ac:spMkLst>
        </pc:spChg>
      </pc:sldChg>
      <pc:sldChg chg="modSp mod">
        <pc:chgData name="RAJ ROSHAN" userId="c8922cc72f281b43" providerId="LiveId" clId="{281F7763-69BD-4E9A-A35E-D03C3CCF8B3E}" dt="2026-01-20T08:02:39.548" v="20"/>
        <pc:sldMkLst>
          <pc:docMk/>
          <pc:sldMk cId="382227434" sldId="262"/>
        </pc:sldMkLst>
        <pc:spChg chg="mod">
          <ac:chgData name="RAJ ROSHAN" userId="c8922cc72f281b43" providerId="LiveId" clId="{281F7763-69BD-4E9A-A35E-D03C3CCF8B3E}" dt="2026-01-20T08:02:39.548" v="20"/>
          <ac:spMkLst>
            <pc:docMk/>
            <pc:sldMk cId="382227434" sldId="262"/>
            <ac:spMk id="2" creationId="{5A2912DA-F8F6-5649-1CC8-E50011695090}"/>
          </ac:spMkLst>
        </pc:spChg>
        <pc:spChg chg="mod">
          <ac:chgData name="RAJ ROSHAN" userId="c8922cc72f281b43" providerId="LiveId" clId="{281F7763-69BD-4E9A-A35E-D03C3CCF8B3E}" dt="2026-01-20T08:02:39.548" v="20"/>
          <ac:spMkLst>
            <pc:docMk/>
            <pc:sldMk cId="382227434" sldId="262"/>
            <ac:spMk id="3" creationId="{8A64ACD7-6DA8-4DFF-5D6A-DE26EA181BC8}"/>
          </ac:spMkLst>
        </pc:spChg>
        <pc:spChg chg="mod">
          <ac:chgData name="RAJ ROSHAN" userId="c8922cc72f281b43" providerId="LiveId" clId="{281F7763-69BD-4E9A-A35E-D03C3CCF8B3E}" dt="2026-01-20T08:02:39.548" v="20"/>
          <ac:spMkLst>
            <pc:docMk/>
            <pc:sldMk cId="382227434" sldId="262"/>
            <ac:spMk id="4" creationId="{FDBCC6D1-A46E-E76F-2E3B-A54DEACABA61}"/>
          </ac:spMkLst>
        </pc:spChg>
        <pc:spChg chg="mod">
          <ac:chgData name="RAJ ROSHAN" userId="c8922cc72f281b43" providerId="LiveId" clId="{281F7763-69BD-4E9A-A35E-D03C3CCF8B3E}" dt="2026-01-20T08:02:39.548" v="20"/>
          <ac:spMkLst>
            <pc:docMk/>
            <pc:sldMk cId="382227434" sldId="262"/>
            <ac:spMk id="5" creationId="{11CD58D6-97FB-1737-FCD0-C15E945ACBC4}"/>
          </ac:spMkLst>
        </pc:spChg>
        <pc:spChg chg="mod">
          <ac:chgData name="RAJ ROSHAN" userId="c8922cc72f281b43" providerId="LiveId" clId="{281F7763-69BD-4E9A-A35E-D03C3CCF8B3E}" dt="2026-01-20T08:02:39.548" v="20"/>
          <ac:spMkLst>
            <pc:docMk/>
            <pc:sldMk cId="382227434" sldId="262"/>
            <ac:spMk id="7" creationId="{3D8BB648-00FC-EB07-CA6E-E3E81D5C2EF7}"/>
          </ac:spMkLst>
        </pc:spChg>
        <pc:spChg chg="mod">
          <ac:chgData name="RAJ ROSHAN" userId="c8922cc72f281b43" providerId="LiveId" clId="{281F7763-69BD-4E9A-A35E-D03C3CCF8B3E}" dt="2026-01-20T08:02:39.548" v="20"/>
          <ac:spMkLst>
            <pc:docMk/>
            <pc:sldMk cId="382227434" sldId="262"/>
            <ac:spMk id="8" creationId="{6642AC1C-9FB3-32A5-98B1-1DDED8322B1B}"/>
          </ac:spMkLst>
        </pc:spChg>
      </pc:sldChg>
      <pc:sldChg chg="modSp">
        <pc:chgData name="RAJ ROSHAN" userId="c8922cc72f281b43" providerId="LiveId" clId="{281F7763-69BD-4E9A-A35E-D03C3CCF8B3E}" dt="2026-01-20T08:02:39.548" v="20"/>
        <pc:sldMkLst>
          <pc:docMk/>
          <pc:sldMk cId="1306626149" sldId="268"/>
        </pc:sldMkLst>
        <pc:spChg chg="mod">
          <ac:chgData name="RAJ ROSHAN" userId="c8922cc72f281b43" providerId="LiveId" clId="{281F7763-69BD-4E9A-A35E-D03C3CCF8B3E}" dt="2026-01-20T08:02:39.548" v="20"/>
          <ac:spMkLst>
            <pc:docMk/>
            <pc:sldMk cId="1306626149" sldId="268"/>
            <ac:spMk id="2" creationId="{75228266-EBE5-FCD5-63DA-D274BA638FC8}"/>
          </ac:spMkLst>
        </pc:spChg>
        <pc:spChg chg="mod">
          <ac:chgData name="RAJ ROSHAN" userId="c8922cc72f281b43" providerId="LiveId" clId="{281F7763-69BD-4E9A-A35E-D03C3CCF8B3E}" dt="2026-01-20T08:02:39.548" v="20"/>
          <ac:spMkLst>
            <pc:docMk/>
            <pc:sldMk cId="1306626149" sldId="268"/>
            <ac:spMk id="3" creationId="{F03D9D71-0315-2B6E-B2BD-AC048C510F8D}"/>
          </ac:spMkLst>
        </pc:spChg>
      </pc:sldChg>
      <pc:sldChg chg="modSp mod">
        <pc:chgData name="RAJ ROSHAN" userId="c8922cc72f281b43" providerId="LiveId" clId="{281F7763-69BD-4E9A-A35E-D03C3CCF8B3E}" dt="2026-01-20T08:02:39.548" v="20"/>
        <pc:sldMkLst>
          <pc:docMk/>
          <pc:sldMk cId="1627604836" sldId="269"/>
        </pc:sldMkLst>
        <pc:spChg chg="mod">
          <ac:chgData name="RAJ ROSHAN" userId="c8922cc72f281b43" providerId="LiveId" clId="{281F7763-69BD-4E9A-A35E-D03C3CCF8B3E}" dt="2026-01-20T08:02:39.548" v="20"/>
          <ac:spMkLst>
            <pc:docMk/>
            <pc:sldMk cId="1627604836" sldId="269"/>
            <ac:spMk id="3" creationId="{1AAACC1A-6A68-3B3D-85D1-D7040FB5A33F}"/>
          </ac:spMkLst>
        </pc:spChg>
      </pc:sldChg>
      <pc:sldChg chg="addSp modSp new mod">
        <pc:chgData name="RAJ ROSHAN" userId="c8922cc72f281b43" providerId="LiveId" clId="{281F7763-69BD-4E9A-A35E-D03C3CCF8B3E}" dt="2026-01-26T02:34:43.018" v="28" actId="14100"/>
        <pc:sldMkLst>
          <pc:docMk/>
          <pc:sldMk cId="2445911688" sldId="270"/>
        </pc:sldMkLst>
        <pc:picChg chg="add mod">
          <ac:chgData name="RAJ ROSHAN" userId="c8922cc72f281b43" providerId="LiveId" clId="{281F7763-69BD-4E9A-A35E-D03C3CCF8B3E}" dt="2026-01-26T02:34:43.018" v="28" actId="14100"/>
          <ac:picMkLst>
            <pc:docMk/>
            <pc:sldMk cId="2445911688" sldId="270"/>
            <ac:picMk id="2" creationId="{FF423FFC-94B2-3B29-A3D6-B43B1A1CA4F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23FE1C-E6EC-41CA-AAFF-A106F184F637}"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A309E-D6DE-4474-9231-1A0A869DD246}" type="slidenum">
              <a:rPr lang="en-US" smtClean="0"/>
              <a:t>‹#›</a:t>
            </a:fld>
            <a:endParaRPr lang="en-US"/>
          </a:p>
        </p:txBody>
      </p:sp>
    </p:spTree>
    <p:extLst>
      <p:ext uri="{BB962C8B-B14F-4D97-AF65-F5344CB8AC3E}">
        <p14:creationId xmlns:p14="http://schemas.microsoft.com/office/powerpoint/2010/main" val="2867842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5A309E-D6DE-4474-9231-1A0A869DD246}" type="slidenum">
              <a:rPr lang="en-US" smtClean="0"/>
              <a:t>12</a:t>
            </a:fld>
            <a:endParaRPr lang="en-US"/>
          </a:p>
        </p:txBody>
      </p:sp>
    </p:spTree>
    <p:extLst>
      <p:ext uri="{BB962C8B-B14F-4D97-AF65-F5344CB8AC3E}">
        <p14:creationId xmlns:p14="http://schemas.microsoft.com/office/powerpoint/2010/main" val="3328833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781441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244713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769012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9DF628-44E8-4346-9331-D60F52BF27E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256930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9DF628-44E8-4346-9331-D60F52BF27E6}"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112574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859782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246434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588692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9DF628-44E8-4346-9331-D60F52BF27E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961382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9DF628-44E8-4346-9331-D60F52BF27E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10247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962503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64875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1893722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3745412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1562853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2205567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9DF628-44E8-4346-9331-D60F52BF27E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151A75-B725-49F7-940D-D91136960F63}" type="slidenum">
              <a:rPr lang="en-US" smtClean="0"/>
              <a:t>‹#›</a:t>
            </a:fld>
            <a:endParaRPr lang="en-US"/>
          </a:p>
        </p:txBody>
      </p:sp>
    </p:spTree>
    <p:extLst>
      <p:ext uri="{BB962C8B-B14F-4D97-AF65-F5344CB8AC3E}">
        <p14:creationId xmlns:p14="http://schemas.microsoft.com/office/powerpoint/2010/main" val="296363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E9DF628-44E8-4346-9331-D60F52BF27E6}" type="datetimeFigureOut">
              <a:rPr lang="en-US" smtClean="0"/>
              <a:t>1/26/2026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2151A75-B725-49F7-940D-D91136960F63}" type="slidenum">
              <a:rPr lang="en-US" smtClean="0"/>
              <a:t>‹#›</a:t>
            </a:fld>
            <a:endParaRPr lang="en-US"/>
          </a:p>
        </p:txBody>
      </p:sp>
    </p:spTree>
    <p:extLst>
      <p:ext uri="{BB962C8B-B14F-4D97-AF65-F5344CB8AC3E}">
        <p14:creationId xmlns:p14="http://schemas.microsoft.com/office/powerpoint/2010/main" val="2936643307"/>
      </p:ext>
    </p:extLst>
  </p:cSld>
  <p:clrMap bg1="dk1" tx1="lt1" bg2="dk2" tx2="lt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B5C9-6B11-6DA1-E92F-DB3DF21A0402}"/>
              </a:ext>
            </a:extLst>
          </p:cNvPr>
          <p:cNvSpPr>
            <a:spLocks noGrp="1"/>
          </p:cNvSpPr>
          <p:nvPr>
            <p:ph type="ctrTitle"/>
          </p:nvPr>
        </p:nvSpPr>
        <p:spPr>
          <a:xfrm>
            <a:off x="2595716" y="257124"/>
            <a:ext cx="8072283" cy="2643392"/>
          </a:xfrm>
        </p:spPr>
        <p:txBody>
          <a:bodyPr>
            <a:normAutofit/>
          </a:bodyPr>
          <a:lstStyle/>
          <a:p>
            <a:pPr algn="ctr"/>
            <a:r>
              <a:rPr lang="en-US" sz="4400" dirty="0">
                <a:solidFill>
                  <a:schemeClr val="bg1"/>
                </a:solidFill>
                <a:latin typeface="+mn-lt"/>
                <a:ea typeface="+mn-ea"/>
                <a:cs typeface="+mn-cs"/>
              </a:rPr>
              <a:t>Cyclistic Bike-sharing Analysis</a:t>
            </a:r>
            <a:br>
              <a:rPr lang="en-US" sz="4400" dirty="0">
                <a:solidFill>
                  <a:schemeClr val="bg1"/>
                </a:solidFill>
                <a:latin typeface="+mn-lt"/>
                <a:ea typeface="+mn-ea"/>
                <a:cs typeface="+mn-cs"/>
              </a:rPr>
            </a:br>
            <a:r>
              <a:rPr lang="en-US" sz="4400" dirty="0">
                <a:solidFill>
                  <a:schemeClr val="bg1"/>
                </a:solidFill>
                <a:latin typeface="+mn-lt"/>
                <a:ea typeface="+mn-ea"/>
                <a:cs typeface="+mn-cs"/>
              </a:rPr>
              <a:t>(Case Study)</a:t>
            </a:r>
          </a:p>
        </p:txBody>
      </p:sp>
      <p:sp>
        <p:nvSpPr>
          <p:cNvPr id="3" name="Subtitle 2">
            <a:extLst>
              <a:ext uri="{FF2B5EF4-FFF2-40B4-BE49-F238E27FC236}">
                <a16:creationId xmlns:a16="http://schemas.microsoft.com/office/drawing/2014/main" id="{FBB81C89-87A6-B37A-C44B-04E1618C48F7}"/>
              </a:ext>
            </a:extLst>
          </p:cNvPr>
          <p:cNvSpPr>
            <a:spLocks noGrp="1"/>
          </p:cNvSpPr>
          <p:nvPr>
            <p:ph type="subTitle" idx="1"/>
          </p:nvPr>
        </p:nvSpPr>
        <p:spPr>
          <a:xfrm>
            <a:off x="2595716" y="3562709"/>
            <a:ext cx="8072283" cy="2366143"/>
          </a:xfrm>
        </p:spPr>
        <p:txBody>
          <a:bodyPr>
            <a:normAutofit/>
          </a:bodyPr>
          <a:lstStyle/>
          <a:p>
            <a:pPr algn="ctr"/>
            <a:r>
              <a:rPr lang="en-US" sz="2400" cap="none" dirty="0">
                <a:solidFill>
                  <a:schemeClr val="bg1"/>
                </a:solidFill>
              </a:rPr>
              <a:t>Raj Roshan</a:t>
            </a:r>
          </a:p>
          <a:p>
            <a:pPr algn="ctr"/>
            <a:r>
              <a:rPr lang="en-US" dirty="0">
                <a:solidFill>
                  <a:schemeClr val="bg1"/>
                </a:solidFill>
              </a:rPr>
              <a:t>20-01-2026</a:t>
            </a:r>
          </a:p>
          <a:p>
            <a:pPr algn="ctr"/>
            <a:endParaRPr lang="en-US" dirty="0">
              <a:solidFill>
                <a:schemeClr val="accent5">
                  <a:lumMod val="50000"/>
                </a:schemeClr>
              </a:solidFill>
            </a:endParaRPr>
          </a:p>
          <a:p>
            <a:pPr algn="r"/>
            <a:endParaRPr lang="en-US" cap="none" dirty="0">
              <a:solidFill>
                <a:schemeClr val="accent5">
                  <a:lumMod val="50000"/>
                </a:schemeClr>
              </a:solidFill>
            </a:endParaRPr>
          </a:p>
          <a:p>
            <a:pPr algn="r"/>
            <a:endParaRPr lang="en-US" sz="1100" cap="none" dirty="0">
              <a:solidFill>
                <a:schemeClr val="accent5">
                  <a:lumMod val="50000"/>
                </a:schemeClr>
              </a:solidFill>
            </a:endParaRPr>
          </a:p>
          <a:p>
            <a:pPr algn="r"/>
            <a:r>
              <a:rPr lang="en-US" sz="1100" cap="none" dirty="0">
                <a:solidFill>
                  <a:schemeClr val="tx1"/>
                </a:solidFill>
              </a:rPr>
              <a:t>Google Data Analytics Capstone</a:t>
            </a:r>
          </a:p>
        </p:txBody>
      </p:sp>
    </p:spTree>
    <p:extLst>
      <p:ext uri="{BB962C8B-B14F-4D97-AF65-F5344CB8AC3E}">
        <p14:creationId xmlns:p14="http://schemas.microsoft.com/office/powerpoint/2010/main" val="3212666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663EC-484D-E8D5-5104-35957062A4FB}"/>
              </a:ext>
            </a:extLst>
          </p:cNvPr>
          <p:cNvSpPr>
            <a:spLocks noGrp="1"/>
          </p:cNvSpPr>
          <p:nvPr>
            <p:ph type="title"/>
          </p:nvPr>
        </p:nvSpPr>
        <p:spPr>
          <a:xfrm>
            <a:off x="1141411" y="150865"/>
            <a:ext cx="9906000" cy="2852737"/>
          </a:xfrm>
        </p:spPr>
        <p:txBody>
          <a:bodyPr/>
          <a:lstStyle/>
          <a:p>
            <a:pPr algn="ctr"/>
            <a:r>
              <a:rPr lang="en-US" b="1" cap="none" dirty="0">
                <a:solidFill>
                  <a:schemeClr val="bg1"/>
                </a:solidFill>
              </a:rPr>
              <a:t>Maximizing Annual Memberships</a:t>
            </a:r>
            <a:br>
              <a:rPr lang="en-US" b="1" cap="none" dirty="0">
                <a:solidFill>
                  <a:schemeClr val="bg1"/>
                </a:solidFill>
              </a:rPr>
            </a:br>
            <a:r>
              <a:rPr lang="en-US" b="1" cap="none" dirty="0">
                <a:solidFill>
                  <a:schemeClr val="bg1"/>
                </a:solidFill>
              </a:rPr>
              <a:t>Insights From Cyclistic Bike-share Data</a:t>
            </a:r>
            <a:br>
              <a:rPr lang="en-US" b="1" cap="none" dirty="0">
                <a:solidFill>
                  <a:schemeClr val="bg1"/>
                </a:solidFill>
              </a:rPr>
            </a:br>
            <a:endParaRPr lang="en-US" b="1" cap="none" dirty="0">
              <a:solidFill>
                <a:schemeClr val="bg1"/>
              </a:solidFill>
            </a:endParaRPr>
          </a:p>
        </p:txBody>
      </p:sp>
      <p:sp>
        <p:nvSpPr>
          <p:cNvPr id="3" name="Text Placeholder 2">
            <a:extLst>
              <a:ext uri="{FF2B5EF4-FFF2-40B4-BE49-F238E27FC236}">
                <a16:creationId xmlns:a16="http://schemas.microsoft.com/office/drawing/2014/main" id="{37A958FB-0245-D15A-4559-C3698CE1C8E5}"/>
              </a:ext>
            </a:extLst>
          </p:cNvPr>
          <p:cNvSpPr>
            <a:spLocks noGrp="1"/>
          </p:cNvSpPr>
          <p:nvPr>
            <p:ph type="body" idx="1"/>
          </p:nvPr>
        </p:nvSpPr>
        <p:spPr>
          <a:xfrm>
            <a:off x="1141411" y="3637781"/>
            <a:ext cx="9906000" cy="1374776"/>
          </a:xfrm>
        </p:spPr>
        <p:txBody>
          <a:bodyPr>
            <a:normAutofit fontScale="92500" lnSpcReduction="20000"/>
          </a:bodyPr>
          <a:lstStyle/>
          <a:p>
            <a:r>
              <a:rPr lang="en-US" sz="2000" cap="none" dirty="0">
                <a:solidFill>
                  <a:schemeClr val="tx2">
                    <a:lumMod val="20000"/>
                    <a:lumOff val="80000"/>
                  </a:schemeClr>
                </a:solidFill>
              </a:rPr>
              <a:t>Welcome to the </a:t>
            </a:r>
            <a:r>
              <a:rPr lang="en-US" sz="2000" cap="none" dirty="0" err="1">
                <a:solidFill>
                  <a:schemeClr val="tx2">
                    <a:lumMod val="20000"/>
                    <a:lumOff val="80000"/>
                  </a:schemeClr>
                </a:solidFill>
              </a:rPr>
              <a:t>Cyclistic</a:t>
            </a:r>
            <a:r>
              <a:rPr lang="en-US" sz="2000" cap="none" dirty="0">
                <a:solidFill>
                  <a:schemeClr val="tx2">
                    <a:lumMod val="20000"/>
                    <a:lumOff val="80000"/>
                  </a:schemeClr>
                </a:solidFill>
              </a:rPr>
              <a:t> bike-share analysis case study, where we examine trends and behavior of rider to learn more about how users interact with the service. This study intends to produce useful insights that will support </a:t>
            </a:r>
            <a:r>
              <a:rPr lang="en-US" sz="2000" cap="none" dirty="0" err="1">
                <a:solidFill>
                  <a:schemeClr val="tx2">
                    <a:lumMod val="20000"/>
                    <a:lumOff val="80000"/>
                  </a:schemeClr>
                </a:solidFill>
              </a:rPr>
              <a:t>Cyclistic's</a:t>
            </a:r>
            <a:r>
              <a:rPr lang="en-US" sz="2000" cap="none" dirty="0">
                <a:solidFill>
                  <a:schemeClr val="tx2">
                    <a:lumMod val="20000"/>
                    <a:lumOff val="80000"/>
                  </a:schemeClr>
                </a:solidFill>
              </a:rPr>
              <a:t> marketing strategy and assist in converting casual riders into annual members by using Divvy trip data from 2025.</a:t>
            </a:r>
            <a:endParaRPr lang="en-US" dirty="0"/>
          </a:p>
        </p:txBody>
      </p:sp>
    </p:spTree>
    <p:extLst>
      <p:ext uri="{BB962C8B-B14F-4D97-AF65-F5344CB8AC3E}">
        <p14:creationId xmlns:p14="http://schemas.microsoft.com/office/powerpoint/2010/main" val="1437111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09B7-A290-D892-1493-FEA1268E7214}"/>
              </a:ext>
            </a:extLst>
          </p:cNvPr>
          <p:cNvSpPr>
            <a:spLocks noGrp="1"/>
          </p:cNvSpPr>
          <p:nvPr>
            <p:ph type="title"/>
          </p:nvPr>
        </p:nvSpPr>
        <p:spPr/>
        <p:txBody>
          <a:bodyPr>
            <a:normAutofit/>
          </a:bodyPr>
          <a:lstStyle/>
          <a:p>
            <a:pPr algn="ctr"/>
            <a:r>
              <a:rPr lang="en-US" sz="4000" b="1" dirty="0">
                <a:solidFill>
                  <a:schemeClr val="bg1"/>
                </a:solidFill>
              </a:rPr>
              <a:t>Overview</a:t>
            </a:r>
          </a:p>
        </p:txBody>
      </p:sp>
      <p:sp>
        <p:nvSpPr>
          <p:cNvPr id="3" name="Content Placeholder 2">
            <a:extLst>
              <a:ext uri="{FF2B5EF4-FFF2-40B4-BE49-F238E27FC236}">
                <a16:creationId xmlns:a16="http://schemas.microsoft.com/office/drawing/2014/main" id="{88B81C74-BA0A-5529-369B-294CDED23B09}"/>
              </a:ext>
            </a:extLst>
          </p:cNvPr>
          <p:cNvSpPr>
            <a:spLocks noGrp="1"/>
          </p:cNvSpPr>
          <p:nvPr>
            <p:ph sz="half" idx="1"/>
          </p:nvPr>
        </p:nvSpPr>
        <p:spPr/>
        <p:txBody>
          <a:bodyPr/>
          <a:lstStyle/>
          <a:p>
            <a:r>
              <a:rPr lang="en-US" sz="2800" b="1" dirty="0"/>
              <a:t>Objective</a:t>
            </a:r>
          </a:p>
          <a:p>
            <a:endParaRPr lang="en-US" dirty="0"/>
          </a:p>
          <a:p>
            <a:pPr marL="0" indent="0">
              <a:buNone/>
            </a:pPr>
            <a:r>
              <a:rPr lang="en-US" dirty="0"/>
              <a:t>To understand how annual members and casual riders use Cyclistic bikes differently.</a:t>
            </a:r>
          </a:p>
        </p:txBody>
      </p:sp>
      <p:sp>
        <p:nvSpPr>
          <p:cNvPr id="4" name="Content Placeholder 3">
            <a:extLst>
              <a:ext uri="{FF2B5EF4-FFF2-40B4-BE49-F238E27FC236}">
                <a16:creationId xmlns:a16="http://schemas.microsoft.com/office/drawing/2014/main" id="{0EFD9BFC-3655-9C66-86E7-8EC3CE23BD7A}"/>
              </a:ext>
            </a:extLst>
          </p:cNvPr>
          <p:cNvSpPr>
            <a:spLocks noGrp="1"/>
          </p:cNvSpPr>
          <p:nvPr>
            <p:ph sz="half" idx="2"/>
          </p:nvPr>
        </p:nvSpPr>
        <p:spPr/>
        <p:txBody>
          <a:bodyPr/>
          <a:lstStyle/>
          <a:p>
            <a:r>
              <a:rPr lang="en-US" sz="2800" b="1" dirty="0"/>
              <a:t>Business Goal</a:t>
            </a:r>
          </a:p>
          <a:p>
            <a:endParaRPr lang="en-US" dirty="0"/>
          </a:p>
          <a:p>
            <a:pPr marL="0" indent="0">
              <a:buNone/>
            </a:pPr>
            <a:r>
              <a:rPr lang="en-US" dirty="0"/>
              <a:t>Provide insights that can help in  converting casual riders into annual members.</a:t>
            </a:r>
          </a:p>
        </p:txBody>
      </p:sp>
    </p:spTree>
    <p:extLst>
      <p:ext uri="{BB962C8B-B14F-4D97-AF65-F5344CB8AC3E}">
        <p14:creationId xmlns:p14="http://schemas.microsoft.com/office/powerpoint/2010/main" val="797149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321C-2F5B-6016-72A1-7E2531A4D9EA}"/>
              </a:ext>
            </a:extLst>
          </p:cNvPr>
          <p:cNvSpPr>
            <a:spLocks noGrp="1"/>
          </p:cNvSpPr>
          <p:nvPr>
            <p:ph type="title"/>
          </p:nvPr>
        </p:nvSpPr>
        <p:spPr/>
        <p:txBody>
          <a:bodyPr>
            <a:normAutofit/>
          </a:bodyPr>
          <a:lstStyle/>
          <a:p>
            <a:pPr algn="ctr"/>
            <a:r>
              <a:rPr lang="en-US" sz="4000" b="1" dirty="0">
                <a:solidFill>
                  <a:schemeClr val="bg1"/>
                </a:solidFill>
              </a:rPr>
              <a:t>Business task</a:t>
            </a:r>
          </a:p>
        </p:txBody>
      </p:sp>
      <p:sp>
        <p:nvSpPr>
          <p:cNvPr id="3" name="Content Placeholder 2">
            <a:extLst>
              <a:ext uri="{FF2B5EF4-FFF2-40B4-BE49-F238E27FC236}">
                <a16:creationId xmlns:a16="http://schemas.microsoft.com/office/drawing/2014/main" id="{88C2635D-B986-6737-7BD6-AC05782AC88C}"/>
              </a:ext>
            </a:extLst>
          </p:cNvPr>
          <p:cNvSpPr>
            <a:spLocks noGrp="1"/>
          </p:cNvSpPr>
          <p:nvPr>
            <p:ph idx="1"/>
          </p:nvPr>
        </p:nvSpPr>
        <p:spPr/>
        <p:txBody>
          <a:bodyPr/>
          <a:lstStyle/>
          <a:p>
            <a:pPr marL="0" indent="0">
              <a:buNone/>
            </a:pPr>
            <a:r>
              <a:rPr lang="en-US" dirty="0"/>
              <a:t>Statement:</a:t>
            </a:r>
          </a:p>
          <a:p>
            <a:r>
              <a:rPr lang="en-US" dirty="0"/>
              <a:t>Analyze </a:t>
            </a:r>
            <a:r>
              <a:rPr lang="en-US" dirty="0" err="1"/>
              <a:t>Cyclistic</a:t>
            </a:r>
            <a:r>
              <a:rPr lang="en-US" dirty="0"/>
              <a:t> bike trip data to identify their usage patterns and trends by comparing the behaviors of annual members and casual riders.</a:t>
            </a:r>
          </a:p>
          <a:p>
            <a:r>
              <a:rPr lang="en-US" dirty="0"/>
              <a:t>Generate data-driven insights to increase annual memberships.</a:t>
            </a:r>
          </a:p>
          <a:p>
            <a:endParaRPr lang="en-US" dirty="0"/>
          </a:p>
        </p:txBody>
      </p:sp>
    </p:spTree>
    <p:extLst>
      <p:ext uri="{BB962C8B-B14F-4D97-AF65-F5344CB8AC3E}">
        <p14:creationId xmlns:p14="http://schemas.microsoft.com/office/powerpoint/2010/main" val="5810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8C946-6EA2-5F38-C471-C9D6FAD40C92}"/>
              </a:ext>
            </a:extLst>
          </p:cNvPr>
          <p:cNvSpPr>
            <a:spLocks noGrp="1"/>
          </p:cNvSpPr>
          <p:nvPr>
            <p:ph type="title"/>
          </p:nvPr>
        </p:nvSpPr>
        <p:spPr/>
        <p:txBody>
          <a:bodyPr>
            <a:normAutofit/>
          </a:bodyPr>
          <a:lstStyle/>
          <a:p>
            <a:pPr algn="ctr"/>
            <a:r>
              <a:rPr lang="en-US" sz="4000" b="1" dirty="0">
                <a:solidFill>
                  <a:schemeClr val="bg1"/>
                </a:solidFill>
              </a:rPr>
              <a:t>Data sources</a:t>
            </a:r>
          </a:p>
        </p:txBody>
      </p:sp>
      <p:sp>
        <p:nvSpPr>
          <p:cNvPr id="3" name="Content Placeholder 2">
            <a:extLst>
              <a:ext uri="{FF2B5EF4-FFF2-40B4-BE49-F238E27FC236}">
                <a16:creationId xmlns:a16="http://schemas.microsoft.com/office/drawing/2014/main" id="{A78669E9-66C8-509A-7641-7BA753036A7A}"/>
              </a:ext>
            </a:extLst>
          </p:cNvPr>
          <p:cNvSpPr>
            <a:spLocks noGrp="1"/>
          </p:cNvSpPr>
          <p:nvPr>
            <p:ph idx="1"/>
          </p:nvPr>
        </p:nvSpPr>
        <p:spPr/>
        <p:txBody>
          <a:bodyPr/>
          <a:lstStyle/>
          <a:p>
            <a:pPr marL="0" indent="0">
              <a:buNone/>
            </a:pPr>
            <a:r>
              <a:rPr lang="en-US" sz="2800" b="1" dirty="0"/>
              <a:t>Description:</a:t>
            </a:r>
          </a:p>
          <a:p>
            <a:r>
              <a:rPr lang="en-US" dirty="0"/>
              <a:t>Utilized Cyclistic's historical trip data from the previous </a:t>
            </a:r>
            <a:r>
              <a:rPr lang="en-US" sz="2400" cap="none" dirty="0"/>
              <a:t>divvy trips of 2019 2025.</a:t>
            </a:r>
          </a:p>
          <a:p>
            <a:r>
              <a:rPr lang="en-US" dirty="0"/>
              <a:t>Source: Divvy / </a:t>
            </a:r>
            <a:r>
              <a:rPr lang="en-US" dirty="0" err="1"/>
              <a:t>Cyclistic</a:t>
            </a:r>
            <a:r>
              <a:rPr lang="en-US" dirty="0"/>
              <a:t> public bike-share data</a:t>
            </a:r>
            <a:endParaRPr lang="en-IN" dirty="0"/>
          </a:p>
          <a:p>
            <a:r>
              <a:rPr lang="en-US" dirty="0"/>
              <a:t>Duration: January 2025 – December 2025</a:t>
            </a:r>
            <a:endParaRPr lang="en-IN" dirty="0"/>
          </a:p>
        </p:txBody>
      </p:sp>
    </p:spTree>
    <p:extLst>
      <p:ext uri="{BB962C8B-B14F-4D97-AF65-F5344CB8AC3E}">
        <p14:creationId xmlns:p14="http://schemas.microsoft.com/office/powerpoint/2010/main" val="349364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12DA-F8F6-5649-1CC8-E50011695090}"/>
              </a:ext>
            </a:extLst>
          </p:cNvPr>
          <p:cNvSpPr>
            <a:spLocks noGrp="1"/>
          </p:cNvSpPr>
          <p:nvPr>
            <p:ph type="title"/>
          </p:nvPr>
        </p:nvSpPr>
        <p:spPr/>
        <p:txBody>
          <a:bodyPr>
            <a:normAutofit/>
          </a:bodyPr>
          <a:lstStyle/>
          <a:p>
            <a:pPr algn="ctr"/>
            <a:r>
              <a:rPr lang="en-US" sz="4000" b="1" dirty="0">
                <a:solidFill>
                  <a:schemeClr val="bg1"/>
                </a:solidFill>
              </a:rPr>
              <a:t>Key findings</a:t>
            </a:r>
          </a:p>
        </p:txBody>
      </p:sp>
      <p:sp>
        <p:nvSpPr>
          <p:cNvPr id="3" name="Text Placeholder 2">
            <a:extLst>
              <a:ext uri="{FF2B5EF4-FFF2-40B4-BE49-F238E27FC236}">
                <a16:creationId xmlns:a16="http://schemas.microsoft.com/office/drawing/2014/main" id="{8A64ACD7-6DA8-4DFF-5D6A-DE26EA181BC8}"/>
              </a:ext>
            </a:extLst>
          </p:cNvPr>
          <p:cNvSpPr>
            <a:spLocks noGrp="1"/>
          </p:cNvSpPr>
          <p:nvPr>
            <p:ph type="body" idx="1"/>
          </p:nvPr>
        </p:nvSpPr>
        <p:spPr/>
        <p:txBody>
          <a:bodyPr/>
          <a:lstStyle/>
          <a:p>
            <a:r>
              <a:rPr lang="en-US" b="1" dirty="0">
                <a:solidFill>
                  <a:schemeClr val="accent3">
                    <a:lumMod val="50000"/>
                  </a:schemeClr>
                </a:solidFill>
              </a:rPr>
              <a:t>Ride frequency</a:t>
            </a:r>
          </a:p>
        </p:txBody>
      </p:sp>
      <p:sp>
        <p:nvSpPr>
          <p:cNvPr id="4" name="Text Placeholder 3">
            <a:extLst>
              <a:ext uri="{FF2B5EF4-FFF2-40B4-BE49-F238E27FC236}">
                <a16:creationId xmlns:a16="http://schemas.microsoft.com/office/drawing/2014/main" id="{FDBCC6D1-A46E-E76F-2E3B-A54DEACABA61}"/>
              </a:ext>
            </a:extLst>
          </p:cNvPr>
          <p:cNvSpPr>
            <a:spLocks noGrp="1"/>
          </p:cNvSpPr>
          <p:nvPr>
            <p:ph type="body" sz="half" idx="15"/>
          </p:nvPr>
        </p:nvSpPr>
        <p:spPr/>
        <p:txBody>
          <a:bodyPr>
            <a:normAutofit/>
          </a:bodyPr>
          <a:lstStyle/>
          <a:p>
            <a:endParaRPr lang="en-US" sz="1600" dirty="0"/>
          </a:p>
          <a:p>
            <a:r>
              <a:rPr lang="en-US" sz="1600" b="1" dirty="0">
                <a:solidFill>
                  <a:schemeClr val="tx2"/>
                </a:solidFill>
              </a:rPr>
              <a:t>Annual Members: </a:t>
            </a:r>
            <a:r>
              <a:rPr lang="en-US" sz="1600" dirty="0"/>
              <a:t>More consistent usage throughout the week, higher usage during weekdays.</a:t>
            </a:r>
          </a:p>
          <a:p>
            <a:endParaRPr lang="en-US" sz="1600" dirty="0"/>
          </a:p>
          <a:p>
            <a:r>
              <a:rPr lang="en-US" sz="1600" b="1" dirty="0">
                <a:solidFill>
                  <a:schemeClr val="tx2"/>
                </a:solidFill>
              </a:rPr>
              <a:t>Casual Riders: </a:t>
            </a:r>
            <a:r>
              <a:rPr lang="en-US" sz="1600" dirty="0"/>
              <a:t>Higher usage during weekends, lower during weekdays.</a:t>
            </a:r>
          </a:p>
        </p:txBody>
      </p:sp>
      <p:sp>
        <p:nvSpPr>
          <p:cNvPr id="5" name="Text Placeholder 4">
            <a:extLst>
              <a:ext uri="{FF2B5EF4-FFF2-40B4-BE49-F238E27FC236}">
                <a16:creationId xmlns:a16="http://schemas.microsoft.com/office/drawing/2014/main" id="{11CD58D6-97FB-1737-FCD0-C15E945ACBC4}"/>
              </a:ext>
            </a:extLst>
          </p:cNvPr>
          <p:cNvSpPr>
            <a:spLocks noGrp="1"/>
          </p:cNvSpPr>
          <p:nvPr>
            <p:ph type="body" sz="quarter" idx="3"/>
          </p:nvPr>
        </p:nvSpPr>
        <p:spPr/>
        <p:txBody>
          <a:bodyPr/>
          <a:lstStyle/>
          <a:p>
            <a:r>
              <a:rPr lang="en-US" b="1" dirty="0">
                <a:solidFill>
                  <a:schemeClr val="accent3">
                    <a:lumMod val="50000"/>
                  </a:schemeClr>
                </a:solidFill>
              </a:rPr>
              <a:t>Ride duration</a:t>
            </a:r>
          </a:p>
        </p:txBody>
      </p:sp>
      <p:sp>
        <p:nvSpPr>
          <p:cNvPr id="6" name="Text Placeholder 5">
            <a:extLst>
              <a:ext uri="{FF2B5EF4-FFF2-40B4-BE49-F238E27FC236}">
                <a16:creationId xmlns:a16="http://schemas.microsoft.com/office/drawing/2014/main" id="{0C943622-5528-4990-25F2-05FE519475E3}"/>
              </a:ext>
            </a:extLst>
          </p:cNvPr>
          <p:cNvSpPr>
            <a:spLocks noGrp="1"/>
          </p:cNvSpPr>
          <p:nvPr>
            <p:ph type="body" sz="half" idx="16"/>
          </p:nvPr>
        </p:nvSpPr>
        <p:spPr>
          <a:xfrm>
            <a:off x="4504213" y="3363435"/>
            <a:ext cx="3195830" cy="3312668"/>
          </a:xfrm>
        </p:spPr>
        <p:txBody>
          <a:bodyPr>
            <a:normAutofit/>
          </a:bodyPr>
          <a:lstStyle/>
          <a:p>
            <a:endParaRPr lang="en-US" sz="1600" dirty="0"/>
          </a:p>
          <a:p>
            <a:r>
              <a:rPr lang="en-US" sz="1600" b="1" dirty="0">
                <a:solidFill>
                  <a:schemeClr val="tx2"/>
                </a:solidFill>
              </a:rPr>
              <a:t>Annual Members: </a:t>
            </a:r>
            <a:r>
              <a:rPr lang="en-IN" sz="1600" dirty="0"/>
              <a:t>Member users average 12.3 minutes per ride, suggesting more frequent but shorter trips</a:t>
            </a:r>
            <a:r>
              <a:rPr lang="en-IN" sz="1600" b="1" dirty="0"/>
              <a:t>.</a:t>
            </a:r>
            <a:endParaRPr lang="en-IN" sz="1600" dirty="0"/>
          </a:p>
          <a:p>
            <a:r>
              <a:rPr lang="en-US" sz="1600" b="1" dirty="0">
                <a:solidFill>
                  <a:schemeClr val="tx2"/>
                </a:solidFill>
              </a:rPr>
              <a:t>Casual Riders: </a:t>
            </a:r>
            <a:r>
              <a:rPr lang="en-IN" sz="1600" dirty="0"/>
              <a:t>Casual users average 22.6 minutes per ride, nearly double that of members. Longer</a:t>
            </a:r>
            <a:r>
              <a:rPr lang="en-US" sz="1600" dirty="0"/>
              <a:t> rides, often for leisure or exploration.</a:t>
            </a:r>
          </a:p>
        </p:txBody>
      </p:sp>
      <p:sp>
        <p:nvSpPr>
          <p:cNvPr id="7" name="Text Placeholder 6">
            <a:extLst>
              <a:ext uri="{FF2B5EF4-FFF2-40B4-BE49-F238E27FC236}">
                <a16:creationId xmlns:a16="http://schemas.microsoft.com/office/drawing/2014/main" id="{3D8BB648-00FC-EB07-CA6E-E3E81D5C2EF7}"/>
              </a:ext>
            </a:extLst>
          </p:cNvPr>
          <p:cNvSpPr>
            <a:spLocks noGrp="1"/>
          </p:cNvSpPr>
          <p:nvPr>
            <p:ph type="body" sz="quarter" idx="13"/>
          </p:nvPr>
        </p:nvSpPr>
        <p:spPr/>
        <p:txBody>
          <a:bodyPr/>
          <a:lstStyle/>
          <a:p>
            <a:r>
              <a:rPr lang="en-US" b="1" dirty="0">
                <a:solidFill>
                  <a:schemeClr val="accent3">
                    <a:lumMod val="50000"/>
                  </a:schemeClr>
                </a:solidFill>
              </a:rPr>
              <a:t>Peak usage times</a:t>
            </a:r>
          </a:p>
        </p:txBody>
      </p:sp>
      <p:sp>
        <p:nvSpPr>
          <p:cNvPr id="8" name="Text Placeholder 7">
            <a:extLst>
              <a:ext uri="{FF2B5EF4-FFF2-40B4-BE49-F238E27FC236}">
                <a16:creationId xmlns:a16="http://schemas.microsoft.com/office/drawing/2014/main" id="{6642AC1C-9FB3-32A5-98B1-1DDED8322B1B}"/>
              </a:ext>
            </a:extLst>
          </p:cNvPr>
          <p:cNvSpPr>
            <a:spLocks noGrp="1"/>
          </p:cNvSpPr>
          <p:nvPr>
            <p:ph type="body" sz="half" idx="17"/>
          </p:nvPr>
        </p:nvSpPr>
        <p:spPr/>
        <p:txBody>
          <a:bodyPr>
            <a:normAutofit/>
          </a:bodyPr>
          <a:lstStyle/>
          <a:p>
            <a:endParaRPr lang="en-US" sz="1600" dirty="0"/>
          </a:p>
          <a:p>
            <a:r>
              <a:rPr lang="en-US" sz="1600" b="1" dirty="0">
                <a:solidFill>
                  <a:schemeClr val="tx2"/>
                </a:solidFill>
              </a:rPr>
              <a:t>Annual Members</a:t>
            </a:r>
            <a:r>
              <a:rPr lang="en-US" sz="1600" dirty="0">
                <a:solidFill>
                  <a:schemeClr val="tx2"/>
                </a:solidFill>
              </a:rPr>
              <a:t>: </a:t>
            </a:r>
            <a:r>
              <a:rPr lang="en-US" sz="1600" dirty="0"/>
              <a:t>Peak during morning and evening commutes. Members ride consistently on weekdays</a:t>
            </a:r>
          </a:p>
          <a:p>
            <a:r>
              <a:rPr lang="en-US" sz="1600" b="1" dirty="0">
                <a:solidFill>
                  <a:schemeClr val="tx2"/>
                </a:solidFill>
              </a:rPr>
              <a:t>Casual Riders: </a:t>
            </a:r>
            <a:r>
              <a:rPr lang="en-US" sz="1600" dirty="0"/>
              <a:t>Peak during midday and </a:t>
            </a:r>
            <a:r>
              <a:rPr lang="en-IN" sz="1600" dirty="0"/>
              <a:t>weekends</a:t>
            </a:r>
            <a:r>
              <a:rPr lang="en-US" sz="1600" dirty="0"/>
              <a:t>.</a:t>
            </a:r>
          </a:p>
        </p:txBody>
      </p:sp>
    </p:spTree>
    <p:extLst>
      <p:ext uri="{BB962C8B-B14F-4D97-AF65-F5344CB8AC3E}">
        <p14:creationId xmlns:p14="http://schemas.microsoft.com/office/powerpoint/2010/main" val="382227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50000"/>
            </a:schemeClr>
          </a:fgClr>
          <a:bgClr>
            <a:schemeClr val="bg1"/>
          </a:bgClr>
        </a:patt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3730CC-2C8C-BD2B-1B0E-5D79CCFCFAAC}"/>
              </a:ext>
            </a:extLst>
          </p:cNvPr>
          <p:cNvPicPr>
            <a:picLocks noChangeAspect="1"/>
          </p:cNvPicPr>
          <p:nvPr/>
        </p:nvPicPr>
        <p:blipFill>
          <a:blip r:embed="rId2"/>
          <a:stretch>
            <a:fillRect/>
          </a:stretch>
        </p:blipFill>
        <p:spPr>
          <a:xfrm>
            <a:off x="619432" y="511278"/>
            <a:ext cx="11012129" cy="5791200"/>
          </a:xfrm>
          <a:prstGeom prst="rect">
            <a:avLst/>
          </a:prstGeom>
        </p:spPr>
      </p:pic>
    </p:spTree>
    <p:extLst>
      <p:ext uri="{BB962C8B-B14F-4D97-AF65-F5344CB8AC3E}">
        <p14:creationId xmlns:p14="http://schemas.microsoft.com/office/powerpoint/2010/main" val="449992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rgbClr val="00B0F0"/>
          </a:fgClr>
          <a:bgClr>
            <a:schemeClr val="bg1"/>
          </a:bgClr>
        </a:patt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364AE6-585A-46F1-ABB5-A558B7763ED4}"/>
              </a:ext>
            </a:extLst>
          </p:cNvPr>
          <p:cNvPicPr>
            <a:picLocks noChangeAspect="1"/>
          </p:cNvPicPr>
          <p:nvPr/>
        </p:nvPicPr>
        <p:blipFill>
          <a:blip r:embed="rId2"/>
          <a:stretch>
            <a:fillRect/>
          </a:stretch>
        </p:blipFill>
        <p:spPr>
          <a:xfrm>
            <a:off x="737419" y="432619"/>
            <a:ext cx="10579510" cy="5820697"/>
          </a:xfrm>
          <a:prstGeom prst="rect">
            <a:avLst/>
          </a:prstGeom>
        </p:spPr>
      </p:pic>
    </p:spTree>
    <p:extLst>
      <p:ext uri="{BB962C8B-B14F-4D97-AF65-F5344CB8AC3E}">
        <p14:creationId xmlns:p14="http://schemas.microsoft.com/office/powerpoint/2010/main" val="63567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50000"/>
            </a:schemeClr>
          </a:fgClr>
          <a:bgClr>
            <a:schemeClr val="bg1"/>
          </a:bgClr>
        </a:patt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1F6383-2CED-C387-C789-586B20D02A13}"/>
              </a:ext>
            </a:extLst>
          </p:cNvPr>
          <p:cNvPicPr>
            <a:picLocks noChangeAspect="1"/>
          </p:cNvPicPr>
          <p:nvPr/>
        </p:nvPicPr>
        <p:blipFill>
          <a:blip r:embed="rId2"/>
          <a:stretch>
            <a:fillRect/>
          </a:stretch>
        </p:blipFill>
        <p:spPr>
          <a:xfrm>
            <a:off x="1170039" y="626806"/>
            <a:ext cx="10038735" cy="5604387"/>
          </a:xfrm>
          <a:prstGeom prst="rect">
            <a:avLst/>
          </a:prstGeom>
        </p:spPr>
      </p:pic>
    </p:spTree>
    <p:extLst>
      <p:ext uri="{BB962C8B-B14F-4D97-AF65-F5344CB8AC3E}">
        <p14:creationId xmlns:p14="http://schemas.microsoft.com/office/powerpoint/2010/main" val="2857736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tx2">
              <a:lumMod val="50000"/>
            </a:schemeClr>
          </a:fgClr>
          <a:bgClr>
            <a:schemeClr val="bg1"/>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9B3792-757B-0DF6-30B4-F61F29764E63}"/>
              </a:ext>
            </a:extLst>
          </p:cNvPr>
          <p:cNvPicPr>
            <a:picLocks noChangeAspect="1"/>
          </p:cNvPicPr>
          <p:nvPr/>
        </p:nvPicPr>
        <p:blipFill>
          <a:blip r:embed="rId2"/>
          <a:stretch>
            <a:fillRect/>
          </a:stretch>
        </p:blipFill>
        <p:spPr>
          <a:xfrm>
            <a:off x="1061883" y="474406"/>
            <a:ext cx="10343535" cy="5909187"/>
          </a:xfrm>
          <a:prstGeom prst="rect">
            <a:avLst/>
          </a:prstGeom>
        </p:spPr>
      </p:pic>
    </p:spTree>
    <p:extLst>
      <p:ext uri="{BB962C8B-B14F-4D97-AF65-F5344CB8AC3E}">
        <p14:creationId xmlns:p14="http://schemas.microsoft.com/office/powerpoint/2010/main" val="3024619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423FFC-94B2-3B29-A3D6-B43B1A1CA4FA}"/>
              </a:ext>
            </a:extLst>
          </p:cNvPr>
          <p:cNvPicPr>
            <a:picLocks noChangeAspect="1"/>
          </p:cNvPicPr>
          <p:nvPr/>
        </p:nvPicPr>
        <p:blipFill>
          <a:blip r:embed="rId2"/>
          <a:stretch>
            <a:fillRect/>
          </a:stretch>
        </p:blipFill>
        <p:spPr>
          <a:xfrm>
            <a:off x="934065" y="550606"/>
            <a:ext cx="10205883" cy="5869859"/>
          </a:xfrm>
          <a:prstGeom prst="rect">
            <a:avLst/>
          </a:prstGeom>
        </p:spPr>
      </p:pic>
    </p:spTree>
    <p:extLst>
      <p:ext uri="{BB962C8B-B14F-4D97-AF65-F5344CB8AC3E}">
        <p14:creationId xmlns:p14="http://schemas.microsoft.com/office/powerpoint/2010/main" val="2445911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8436-A8F1-9A20-0401-A50D9A44D6C3}"/>
              </a:ext>
            </a:extLst>
          </p:cNvPr>
          <p:cNvSpPr>
            <a:spLocks noGrp="1"/>
          </p:cNvSpPr>
          <p:nvPr>
            <p:ph type="title"/>
          </p:nvPr>
        </p:nvSpPr>
        <p:spPr>
          <a:xfrm>
            <a:off x="1153959" y="159863"/>
            <a:ext cx="9905998" cy="1079657"/>
          </a:xfrm>
        </p:spPr>
        <p:txBody>
          <a:bodyPr>
            <a:normAutofit/>
          </a:bodyPr>
          <a:lstStyle/>
          <a:p>
            <a:pPr algn="ctr"/>
            <a:r>
              <a:rPr lang="en-US" sz="4000" b="1" dirty="0">
                <a:solidFill>
                  <a:schemeClr val="bg1"/>
                </a:solidFill>
              </a:rPr>
              <a:t>Recommendations</a:t>
            </a:r>
          </a:p>
        </p:txBody>
      </p:sp>
      <p:sp>
        <p:nvSpPr>
          <p:cNvPr id="3" name="Text Placeholder 2">
            <a:extLst>
              <a:ext uri="{FF2B5EF4-FFF2-40B4-BE49-F238E27FC236}">
                <a16:creationId xmlns:a16="http://schemas.microsoft.com/office/drawing/2014/main" id="{172685C0-1B54-880E-0636-F0C2CB7B1317}"/>
              </a:ext>
            </a:extLst>
          </p:cNvPr>
          <p:cNvSpPr>
            <a:spLocks noGrp="1"/>
          </p:cNvSpPr>
          <p:nvPr>
            <p:ph type="body" idx="1"/>
          </p:nvPr>
        </p:nvSpPr>
        <p:spPr>
          <a:xfrm>
            <a:off x="819094" y="1719423"/>
            <a:ext cx="3555842" cy="685800"/>
          </a:xfrm>
        </p:spPr>
        <p:txBody>
          <a:bodyPr/>
          <a:lstStyle/>
          <a:p>
            <a:r>
              <a:rPr lang="en-US" sz="2000" b="1" cap="none" dirty="0">
                <a:solidFill>
                  <a:schemeClr val="accent3">
                    <a:lumMod val="50000"/>
                  </a:schemeClr>
                </a:solidFill>
              </a:rPr>
              <a:t>Targeted Marketing Campaign</a:t>
            </a:r>
          </a:p>
        </p:txBody>
      </p:sp>
      <p:sp>
        <p:nvSpPr>
          <p:cNvPr id="4" name="Text Placeholder 3">
            <a:extLst>
              <a:ext uri="{FF2B5EF4-FFF2-40B4-BE49-F238E27FC236}">
                <a16:creationId xmlns:a16="http://schemas.microsoft.com/office/drawing/2014/main" id="{377E5313-D995-356F-A0F4-02B2EDB37741}"/>
              </a:ext>
            </a:extLst>
          </p:cNvPr>
          <p:cNvSpPr>
            <a:spLocks noGrp="1"/>
          </p:cNvSpPr>
          <p:nvPr>
            <p:ph type="body" sz="half" idx="15"/>
          </p:nvPr>
        </p:nvSpPr>
        <p:spPr>
          <a:xfrm>
            <a:off x="819094" y="2556387"/>
            <a:ext cx="3208735" cy="4141750"/>
          </a:xfrm>
        </p:spPr>
        <p:txBody>
          <a:bodyPr>
            <a:noAutofit/>
          </a:bodyPr>
          <a:lstStyle/>
          <a:p>
            <a:pPr marL="285750" indent="-285750">
              <a:buFont typeface="Arial" panose="020B0604020202020204" pitchFamily="34" charset="0"/>
              <a:buChar char="•"/>
            </a:pPr>
            <a:r>
              <a:rPr lang="en-US" sz="1800" dirty="0"/>
              <a:t>Promote membership benefits at station with high traffic and during peak usage times i.e. weekends and midday.</a:t>
            </a:r>
          </a:p>
          <a:p>
            <a:pPr marL="285750" indent="-285750">
              <a:buFont typeface="Arial" panose="020B0604020202020204" pitchFamily="34" charset="0"/>
              <a:buChar char="•"/>
            </a:pPr>
            <a:r>
              <a:rPr lang="en-US" sz="1800" dirty="0"/>
              <a:t>Promote memberships near tourist &amp; recreational locations</a:t>
            </a:r>
          </a:p>
          <a:p>
            <a:pPr marL="285750" indent="-285750">
              <a:buFont typeface="Arial" panose="020B0604020202020204" pitchFamily="34" charset="0"/>
              <a:buChar char="•"/>
            </a:pPr>
            <a:r>
              <a:rPr lang="en-US" sz="1800" dirty="0"/>
              <a:t>Highlight benefits of annual memberships.</a:t>
            </a:r>
          </a:p>
          <a:p>
            <a:pPr marL="285750" indent="-285750">
              <a:buFont typeface="Arial" panose="020B0604020202020204" pitchFamily="34" charset="0"/>
              <a:buChar char="•"/>
            </a:pPr>
            <a:r>
              <a:rPr lang="en-US" sz="1800" dirty="0"/>
              <a:t>Launch seasonal membership drives.</a:t>
            </a:r>
          </a:p>
          <a:p>
            <a:pPr marL="285750" indent="-285750">
              <a:buFont typeface="Arial" panose="020B0604020202020204" pitchFamily="34" charset="0"/>
              <a:buChar char="•"/>
            </a:pPr>
            <a:endParaRPr lang="en-IN" sz="1600" dirty="0"/>
          </a:p>
          <a:p>
            <a:endParaRPr lang="en-US" sz="1800" dirty="0"/>
          </a:p>
        </p:txBody>
      </p:sp>
      <p:sp>
        <p:nvSpPr>
          <p:cNvPr id="5" name="Text Placeholder 4">
            <a:extLst>
              <a:ext uri="{FF2B5EF4-FFF2-40B4-BE49-F238E27FC236}">
                <a16:creationId xmlns:a16="http://schemas.microsoft.com/office/drawing/2014/main" id="{C04DA407-FD2B-1E46-E52C-25444DD7728E}"/>
              </a:ext>
            </a:extLst>
          </p:cNvPr>
          <p:cNvSpPr>
            <a:spLocks noGrp="1"/>
          </p:cNvSpPr>
          <p:nvPr>
            <p:ph type="body" sz="quarter" idx="3"/>
          </p:nvPr>
        </p:nvSpPr>
        <p:spPr>
          <a:xfrm>
            <a:off x="4636293" y="1721806"/>
            <a:ext cx="3184385" cy="685800"/>
          </a:xfrm>
        </p:spPr>
        <p:txBody>
          <a:bodyPr/>
          <a:lstStyle/>
          <a:p>
            <a:r>
              <a:rPr lang="en-US" sz="2000" b="1" cap="none" dirty="0">
                <a:solidFill>
                  <a:schemeClr val="accent3">
                    <a:lumMod val="50000"/>
                  </a:schemeClr>
                </a:solidFill>
              </a:rPr>
              <a:t>Enhanced User Experience</a:t>
            </a:r>
          </a:p>
        </p:txBody>
      </p:sp>
      <p:sp>
        <p:nvSpPr>
          <p:cNvPr id="6" name="Text Placeholder 5">
            <a:extLst>
              <a:ext uri="{FF2B5EF4-FFF2-40B4-BE49-F238E27FC236}">
                <a16:creationId xmlns:a16="http://schemas.microsoft.com/office/drawing/2014/main" id="{FCE39B52-C0E2-06AB-4779-02A9D3F95F5E}"/>
              </a:ext>
            </a:extLst>
          </p:cNvPr>
          <p:cNvSpPr>
            <a:spLocks noGrp="1"/>
          </p:cNvSpPr>
          <p:nvPr>
            <p:ph type="body" sz="half" idx="16"/>
          </p:nvPr>
        </p:nvSpPr>
        <p:spPr>
          <a:xfrm>
            <a:off x="4636293" y="2556387"/>
            <a:ext cx="3195830" cy="3092574"/>
          </a:xfrm>
        </p:spPr>
        <p:txBody>
          <a:bodyPr>
            <a:noAutofit/>
          </a:bodyPr>
          <a:lstStyle/>
          <a:p>
            <a:pPr marL="285750" indent="-285750">
              <a:buFont typeface="Arial" panose="020B0604020202020204" pitchFamily="34" charset="0"/>
              <a:buChar char="•"/>
            </a:pPr>
            <a:r>
              <a:rPr lang="en-US" sz="1800" dirty="0"/>
              <a:t>Introduce features like loyalty programs and seamless membership upgrades.</a:t>
            </a:r>
          </a:p>
          <a:p>
            <a:pPr marL="285750" indent="-285750">
              <a:buFont typeface="Arial" panose="020B0604020202020204" pitchFamily="34" charset="0"/>
              <a:buChar char="•"/>
            </a:pPr>
            <a:r>
              <a:rPr lang="en-IN" sz="1800" dirty="0"/>
              <a:t>Add features such as Route suggestions for tourists and membership upgrade option day pass.</a:t>
            </a:r>
          </a:p>
          <a:p>
            <a:pPr marL="285750" indent="-285750">
              <a:buFont typeface="Arial" panose="020B0604020202020204" pitchFamily="34" charset="0"/>
              <a:buChar char="•"/>
            </a:pPr>
            <a:r>
              <a:rPr lang="en-IN" sz="1800" dirty="0"/>
              <a:t>Show monthly cost comparison to highlight the saving by using annual membership.</a:t>
            </a:r>
          </a:p>
          <a:p>
            <a:r>
              <a:rPr lang="en-IN" sz="1800" dirty="0"/>
              <a:t>        </a:t>
            </a:r>
            <a:endParaRPr lang="en-US" sz="1800" dirty="0"/>
          </a:p>
          <a:p>
            <a:endParaRPr lang="en-US" sz="1800" dirty="0"/>
          </a:p>
        </p:txBody>
      </p:sp>
      <p:sp>
        <p:nvSpPr>
          <p:cNvPr id="7" name="Text Placeholder 6">
            <a:extLst>
              <a:ext uri="{FF2B5EF4-FFF2-40B4-BE49-F238E27FC236}">
                <a16:creationId xmlns:a16="http://schemas.microsoft.com/office/drawing/2014/main" id="{E84E1F59-1E12-54B0-7631-D4FC2CF0B8DD}"/>
              </a:ext>
            </a:extLst>
          </p:cNvPr>
          <p:cNvSpPr>
            <a:spLocks noGrp="1"/>
          </p:cNvSpPr>
          <p:nvPr>
            <p:ph type="body" sz="quarter" idx="13"/>
          </p:nvPr>
        </p:nvSpPr>
        <p:spPr>
          <a:xfrm>
            <a:off x="8228057" y="1719423"/>
            <a:ext cx="3194968" cy="685800"/>
          </a:xfrm>
        </p:spPr>
        <p:txBody>
          <a:bodyPr/>
          <a:lstStyle/>
          <a:p>
            <a:r>
              <a:rPr lang="en-US" sz="2000" b="1" cap="none" dirty="0">
                <a:solidFill>
                  <a:schemeClr val="tx2">
                    <a:lumMod val="75000"/>
                  </a:schemeClr>
                </a:solidFill>
              </a:rPr>
              <a:t>   </a:t>
            </a:r>
            <a:r>
              <a:rPr lang="en-US" sz="2000" b="1" cap="none" dirty="0">
                <a:solidFill>
                  <a:schemeClr val="accent3">
                    <a:lumMod val="50000"/>
                  </a:schemeClr>
                </a:solidFill>
              </a:rPr>
              <a:t>Bike Availability </a:t>
            </a:r>
          </a:p>
        </p:txBody>
      </p:sp>
      <p:sp>
        <p:nvSpPr>
          <p:cNvPr id="8" name="Text Placeholder 7">
            <a:extLst>
              <a:ext uri="{FF2B5EF4-FFF2-40B4-BE49-F238E27FC236}">
                <a16:creationId xmlns:a16="http://schemas.microsoft.com/office/drawing/2014/main" id="{80A3CF4C-0804-CDEB-E371-7F2F8715022F}"/>
              </a:ext>
            </a:extLst>
          </p:cNvPr>
          <p:cNvSpPr>
            <a:spLocks noGrp="1"/>
          </p:cNvSpPr>
          <p:nvPr>
            <p:ph type="body" sz="half" idx="17"/>
          </p:nvPr>
        </p:nvSpPr>
        <p:spPr>
          <a:xfrm>
            <a:off x="8228057" y="2556387"/>
            <a:ext cx="3194968" cy="3011292"/>
          </a:xfrm>
        </p:spPr>
        <p:txBody>
          <a:bodyPr>
            <a:noAutofit/>
          </a:bodyPr>
          <a:lstStyle/>
          <a:p>
            <a:pPr marL="285750" indent="-285750">
              <a:buFont typeface="Arial" panose="020B0604020202020204" pitchFamily="34" charset="0"/>
              <a:buChar char="•"/>
            </a:pPr>
            <a:r>
              <a:rPr lang="en-US" sz="1800" dirty="0"/>
              <a:t>Ensure More bikes at business districts on weekday and More bikes at parks, tourist spots, waterfronts on weekends</a:t>
            </a:r>
            <a:r>
              <a:rPr lang="en-US" sz="1800" b="1" dirty="0"/>
              <a:t>.</a:t>
            </a:r>
          </a:p>
          <a:p>
            <a:pPr marL="285750" indent="-285750">
              <a:buFont typeface="Arial" panose="020B0604020202020204" pitchFamily="34" charset="0"/>
              <a:buChar char="•"/>
            </a:pPr>
            <a:r>
              <a:rPr lang="en-US" sz="1800" dirty="0"/>
              <a:t>Use electric bike promotions to drive conversions</a:t>
            </a:r>
          </a:p>
        </p:txBody>
      </p:sp>
    </p:spTree>
    <p:extLst>
      <p:ext uri="{BB962C8B-B14F-4D97-AF65-F5344CB8AC3E}">
        <p14:creationId xmlns:p14="http://schemas.microsoft.com/office/powerpoint/2010/main" val="3712163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8266-EBE5-FCD5-63DA-D274BA638FC8}"/>
              </a:ext>
            </a:extLst>
          </p:cNvPr>
          <p:cNvSpPr>
            <a:spLocks noGrp="1"/>
          </p:cNvSpPr>
          <p:nvPr>
            <p:ph type="title"/>
          </p:nvPr>
        </p:nvSpPr>
        <p:spPr/>
        <p:txBody>
          <a:bodyPr/>
          <a:lstStyle/>
          <a:p>
            <a:pPr algn="ctr"/>
            <a:r>
              <a:rPr lang="en-US" sz="4000" b="1" dirty="0">
                <a:solidFill>
                  <a:schemeClr val="bg1"/>
                </a:solidFill>
              </a:rPr>
              <a:t>Conclusion</a:t>
            </a:r>
            <a:endParaRPr lang="en-US" b="1" dirty="0">
              <a:solidFill>
                <a:schemeClr val="bg1"/>
              </a:solidFill>
            </a:endParaRPr>
          </a:p>
        </p:txBody>
      </p:sp>
      <p:sp>
        <p:nvSpPr>
          <p:cNvPr id="3" name="Content Placeholder 2">
            <a:extLst>
              <a:ext uri="{FF2B5EF4-FFF2-40B4-BE49-F238E27FC236}">
                <a16:creationId xmlns:a16="http://schemas.microsoft.com/office/drawing/2014/main" id="{F03D9D71-0315-2B6E-B2BD-AC048C510F8D}"/>
              </a:ext>
            </a:extLst>
          </p:cNvPr>
          <p:cNvSpPr>
            <a:spLocks noGrp="1"/>
          </p:cNvSpPr>
          <p:nvPr>
            <p:ph idx="1"/>
          </p:nvPr>
        </p:nvSpPr>
        <p:spPr/>
        <p:txBody>
          <a:bodyPr>
            <a:normAutofit/>
          </a:bodyPr>
          <a:lstStyle/>
          <a:p>
            <a:pPr marL="0" indent="0">
              <a:buNone/>
            </a:pPr>
            <a:r>
              <a:rPr lang="en-US" sz="2800" b="1" dirty="0">
                <a:solidFill>
                  <a:schemeClr val="accent3">
                    <a:lumMod val="50000"/>
                  </a:schemeClr>
                </a:solidFill>
              </a:rPr>
              <a:t>Summary:</a:t>
            </a:r>
          </a:p>
          <a:p>
            <a:pPr marL="0" indent="0">
              <a:buNone/>
            </a:pPr>
            <a:endParaRPr lang="en-US" dirty="0"/>
          </a:p>
          <a:p>
            <a:pPr marL="0" indent="0">
              <a:buNone/>
            </a:pPr>
            <a:r>
              <a:rPr lang="en-US" dirty="0">
                <a:solidFill>
                  <a:schemeClr val="tx2">
                    <a:lumMod val="20000"/>
                    <a:lumOff val="80000"/>
                  </a:schemeClr>
                </a:solidFill>
              </a:rPr>
              <a:t>Our </a:t>
            </a:r>
            <a:r>
              <a:rPr lang="en-US" dirty="0"/>
              <a:t>analysis clearly shows behavioral differences between casual riders and members. By using these insights, </a:t>
            </a:r>
            <a:r>
              <a:rPr lang="en-US" dirty="0" err="1"/>
              <a:t>Cyclistic</a:t>
            </a:r>
            <a:r>
              <a:rPr lang="en-US" dirty="0"/>
              <a:t> can design targeted marketing strategies to increase overall revenue and </a:t>
            </a:r>
            <a:r>
              <a:rPr lang="en-US" dirty="0">
                <a:solidFill>
                  <a:schemeClr val="tx2">
                    <a:lumMod val="20000"/>
                    <a:lumOff val="80000"/>
                  </a:schemeClr>
                </a:solidFill>
              </a:rPr>
              <a:t>effectively convert casual riders into annual members.</a:t>
            </a:r>
          </a:p>
        </p:txBody>
      </p:sp>
    </p:spTree>
    <p:extLst>
      <p:ext uri="{BB962C8B-B14F-4D97-AF65-F5344CB8AC3E}">
        <p14:creationId xmlns:p14="http://schemas.microsoft.com/office/powerpoint/2010/main" val="1306626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FFCB-C2AC-4B50-0F10-F2EAED2E5B48}"/>
              </a:ext>
            </a:extLst>
          </p:cNvPr>
          <p:cNvSpPr>
            <a:spLocks noGrp="1"/>
          </p:cNvSpPr>
          <p:nvPr>
            <p:ph type="title"/>
          </p:nvPr>
        </p:nvSpPr>
        <p:spPr>
          <a:xfrm>
            <a:off x="1141456" y="609600"/>
            <a:ext cx="9905955" cy="2042160"/>
          </a:xfrm>
        </p:spPr>
        <p:txBody>
          <a:bodyPr>
            <a:normAutofit fontScale="90000"/>
          </a:bodyPr>
          <a:lstStyle/>
          <a:p>
            <a:r>
              <a:rPr lang="en-US" sz="4800" b="1" cap="none" dirty="0">
                <a:solidFill>
                  <a:schemeClr val="bg1"/>
                </a:solidFill>
              </a:rPr>
              <a:t>Thank you for your attention.</a:t>
            </a:r>
            <a:br>
              <a:rPr lang="en-US" sz="4800" b="1" cap="none" dirty="0">
                <a:solidFill>
                  <a:schemeClr val="accent5">
                    <a:lumMod val="50000"/>
                  </a:schemeClr>
                </a:solidFill>
              </a:rPr>
            </a:br>
            <a:br>
              <a:rPr lang="en-US" sz="4000" b="1" cap="none" dirty="0">
                <a:solidFill>
                  <a:schemeClr val="accent5">
                    <a:lumMod val="50000"/>
                  </a:schemeClr>
                </a:solidFill>
              </a:rPr>
            </a:br>
            <a:br>
              <a:rPr lang="en-US" sz="4000" b="1" cap="none" dirty="0">
                <a:solidFill>
                  <a:schemeClr val="accent5">
                    <a:lumMod val="50000"/>
                  </a:schemeClr>
                </a:solidFill>
              </a:rPr>
            </a:br>
            <a:br>
              <a:rPr lang="en-US" sz="4000" b="1" cap="none" dirty="0">
                <a:solidFill>
                  <a:schemeClr val="accent5">
                    <a:lumMod val="50000"/>
                  </a:schemeClr>
                </a:solidFill>
              </a:rPr>
            </a:br>
            <a:endParaRPr lang="en-US" sz="4000" b="1" cap="none" dirty="0">
              <a:solidFill>
                <a:schemeClr val="accent5">
                  <a:lumMod val="50000"/>
                </a:schemeClr>
              </a:solidFill>
            </a:endParaRPr>
          </a:p>
        </p:txBody>
      </p:sp>
      <p:sp>
        <p:nvSpPr>
          <p:cNvPr id="3" name="Text Placeholder 2">
            <a:extLst>
              <a:ext uri="{FF2B5EF4-FFF2-40B4-BE49-F238E27FC236}">
                <a16:creationId xmlns:a16="http://schemas.microsoft.com/office/drawing/2014/main" id="{1AAACC1A-6A68-3B3D-85D1-D7040FB5A33F}"/>
              </a:ext>
            </a:extLst>
          </p:cNvPr>
          <p:cNvSpPr>
            <a:spLocks noGrp="1"/>
          </p:cNvSpPr>
          <p:nvPr>
            <p:ph type="body" sz="half" idx="2"/>
          </p:nvPr>
        </p:nvSpPr>
        <p:spPr/>
        <p:txBody>
          <a:bodyPr>
            <a:normAutofit/>
          </a:bodyPr>
          <a:lstStyle/>
          <a:p>
            <a:r>
              <a:rPr lang="en-US" sz="4000" b="1" dirty="0">
                <a:solidFill>
                  <a:schemeClr val="bg1"/>
                </a:solidFill>
              </a:rPr>
              <a:t>Author</a:t>
            </a:r>
          </a:p>
          <a:p>
            <a:r>
              <a:rPr lang="en-US" sz="4000" b="1" dirty="0">
                <a:solidFill>
                  <a:schemeClr val="accent5">
                    <a:lumMod val="50000"/>
                  </a:schemeClr>
                </a:solidFill>
              </a:rPr>
              <a:t> </a:t>
            </a:r>
            <a:r>
              <a:rPr lang="en-US" sz="4000" b="1" dirty="0"/>
              <a:t>Raj Roshan     </a:t>
            </a:r>
            <a:endParaRPr lang="en-US" sz="4000" dirty="0"/>
          </a:p>
        </p:txBody>
      </p:sp>
    </p:spTree>
    <p:extLst>
      <p:ext uri="{BB962C8B-B14F-4D97-AF65-F5344CB8AC3E}">
        <p14:creationId xmlns:p14="http://schemas.microsoft.com/office/powerpoint/2010/main" val="1627604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198</TotalTime>
  <Words>455</Words>
  <Application>Microsoft Office PowerPoint</Application>
  <PresentationFormat>Widescreen</PresentationFormat>
  <Paragraphs>61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Century Gothic</vt:lpstr>
      <vt:lpstr>Wingdings 3</vt:lpstr>
      <vt:lpstr>Ion</vt:lpstr>
      <vt:lpstr>Cyclistic Bike-sharing Analysis (Case Study)</vt:lpstr>
      <vt:lpstr>Maximizing Annual Memberships Insights From Cyclistic Bike-share Data </vt:lpstr>
      <vt:lpstr>Overview</vt:lpstr>
      <vt:lpstr>Business task</vt:lpstr>
      <vt:lpstr>Data sources</vt:lpstr>
      <vt:lpstr>Key findings</vt:lpstr>
      <vt:lpstr>PowerPoint Presentation</vt:lpstr>
      <vt:lpstr>PowerPoint Presentation</vt:lpstr>
      <vt:lpstr>PowerPoint Presentation</vt:lpstr>
      <vt:lpstr>PowerPoint Presentation</vt:lpstr>
      <vt:lpstr>PowerPoint Presentation</vt:lpstr>
      <vt:lpstr>Recommendations</vt:lpstr>
      <vt:lpstr>Conclusion</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Cyclistic Bike-sharing Analysis (Case Study)</dc:title>
  <dc:creator>Aniket Chhaikuria</dc:creator>
  <cp:lastModifiedBy>RAJ ROSHAN</cp:lastModifiedBy>
  <cp:revision>2</cp:revision>
  <dcterms:created xsi:type="dcterms:W3CDTF">2024-06-02T02:13:52Z</dcterms:created>
  <dcterms:modified xsi:type="dcterms:W3CDTF">2026-01-26T02:34:43Z</dcterms:modified>
</cp:coreProperties>
</file>